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69" r:id="rId3"/>
    <p:sldId id="257" r:id="rId4"/>
    <p:sldId id="258" r:id="rId5"/>
    <p:sldId id="259" r:id="rId6"/>
    <p:sldId id="260" r:id="rId7"/>
    <p:sldId id="261" r:id="rId8"/>
    <p:sldId id="262"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80" y="6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hyperlink" Target="https://drive.google.com/file/d/1abRuCjyAY6DIBT8CqbmiCCmaPU4iVPTj/view?usp=drive_link" TargetMode="External"/><Relationship Id="rId4" Type="http://schemas.openxmlformats.org/officeDocument/2006/relationships/hyperlink" Target="https://github.com/ayeshapari2007-create/Student-Academic-Analysis-and-Grade"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Amtul Jaleel Ayesha</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ayeshapari2007@gmail.com</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645499"/>
            <a:chOff x="3139699" y="4295282"/>
            <a:chExt cx="2272871" cy="64549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48391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Ms.Umamaheswari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876212-BBB1-2FCC-5119-538B370ABE16}"/>
              </a:ext>
            </a:extLst>
          </p:cNvPr>
          <p:cNvSpPr txBox="1"/>
          <p:nvPr/>
        </p:nvSpPr>
        <p:spPr>
          <a:xfrm>
            <a:off x="1053388" y="1520265"/>
            <a:ext cx="7015277" cy="1938992"/>
          </a:xfrm>
          <a:prstGeom prst="rect">
            <a:avLst/>
          </a:prstGeom>
          <a:noFill/>
        </p:spPr>
        <p:txBody>
          <a:bodyPr wrap="square">
            <a:spAutoFit/>
          </a:bodyPr>
          <a:lstStyle/>
          <a:p>
            <a:pPr algn="ctr"/>
            <a:r>
              <a:rPr lang="en-IN" sz="4000" b="1" dirty="0">
                <a:latin typeface="Arial Black" panose="020B0A04020102020204" pitchFamily="34" charset="0"/>
              </a:rPr>
              <a:t>STUDENT ACADEMIC PERFORMANCE ANALYSIS AND GRADE</a:t>
            </a:r>
          </a:p>
        </p:txBody>
      </p:sp>
    </p:spTree>
    <p:extLst>
      <p:ext uri="{BB962C8B-B14F-4D97-AF65-F5344CB8AC3E}">
        <p14:creationId xmlns:p14="http://schemas.microsoft.com/office/powerpoint/2010/main" val="3835664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dirty="0">
                <a:latin typeface="Lato" panose="020F0502020204030203" pitchFamily="34" charset="0"/>
                <a:ea typeface="+mn-lt"/>
                <a:cs typeface="Arial" panose="020B0604020202020204" pitchFamily="34" charset="0"/>
              </a:rPr>
              <a:t>System Architecture</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374165" y="1543902"/>
            <a:ext cx="5002346" cy="2523768"/>
          </a:xfrm>
          <a:prstGeom prst="rect">
            <a:avLst/>
          </a:prstGeom>
          <a:noFill/>
        </p:spPr>
        <p:txBody>
          <a:bodyPr wrap="square">
            <a:spAutoFit/>
          </a:bodyPr>
          <a:lstStyle/>
          <a:p>
            <a:pPr algn="just"/>
            <a:r>
              <a:rPr lang="en-US" sz="2000" dirty="0"/>
              <a:t>This project focuses on analyzing student performance using data-driven techniques. It studies various factors that influence academic results, such as attendance, study habits, and other relevant parameters. The analysis helps in identifying patterns and trends in student performance.</a:t>
            </a:r>
          </a:p>
          <a:p>
            <a:pPr>
              <a:spcAft>
                <a:spcPts val="800"/>
              </a:spcAft>
              <a:tabLst>
                <a:tab pos="4229100" algn="ctr"/>
              </a:tabLst>
            </a:pP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83762" y="1312672"/>
            <a:ext cx="4762910" cy="3447098"/>
          </a:xfrm>
          <a:prstGeom prst="rect">
            <a:avLst/>
          </a:prstGeom>
          <a:noFill/>
        </p:spPr>
        <p:txBody>
          <a:bodyPr wrap="square">
            <a:spAutoFit/>
          </a:bodyPr>
          <a:lstStyle/>
          <a:p>
            <a:pPr marL="0" marR="0" lvl="0" indent="0" algn="just" defTabSz="914400" rtl="0" eaLnBrk="0" fontAlgn="base" latinLnBrk="0" hangingPunct="0">
              <a:lnSpc>
                <a:spcPct val="100000"/>
              </a:lnSpc>
              <a:buClrTx/>
              <a:buSzTx/>
              <a:buFontTx/>
              <a:buChar char="•"/>
              <a:tabLst/>
            </a:pPr>
            <a:r>
              <a:rPr kumimoji="0" lang="en-US" altLang="en-US" sz="2000" b="0" i="0" u="none" strike="noStrike" cap="none" normalizeH="0" baseline="0" dirty="0">
                <a:ln>
                  <a:noFill/>
                </a:ln>
                <a:solidFill>
                  <a:schemeClr val="tx1"/>
                </a:solidFill>
                <a:effectLst/>
              </a:rPr>
              <a:t>Difficulty in understanding factors affecting student performance </a:t>
            </a:r>
          </a:p>
          <a:p>
            <a:pPr marL="0" marR="0" lvl="0" indent="0" algn="just" defTabSz="914400" rtl="0" eaLnBrk="0" fontAlgn="base" latinLnBrk="0" hangingPunct="0">
              <a:lnSpc>
                <a:spcPct val="100000"/>
              </a:lnSpc>
              <a:buClrTx/>
              <a:buSzTx/>
              <a:buFontTx/>
              <a:buChar char="•"/>
              <a:tabLst/>
            </a:pPr>
            <a:r>
              <a:rPr kumimoji="0" lang="en-US" altLang="en-US" sz="2000" b="0" i="0" u="none" strike="noStrike" cap="none" normalizeH="0" baseline="0" dirty="0">
                <a:ln>
                  <a:noFill/>
                </a:ln>
                <a:solidFill>
                  <a:schemeClr val="tx1"/>
                </a:solidFill>
                <a:effectLst/>
              </a:rPr>
              <a:t>Data is available but not effectively utilized </a:t>
            </a:r>
          </a:p>
          <a:p>
            <a:pPr marL="0" marR="0" lvl="0" indent="0" algn="just" defTabSz="914400" rtl="0" eaLnBrk="0" fontAlgn="base" latinLnBrk="0" hangingPunct="0">
              <a:lnSpc>
                <a:spcPct val="100000"/>
              </a:lnSpc>
              <a:buClrTx/>
              <a:buSzTx/>
              <a:buFontTx/>
              <a:buChar char="•"/>
              <a:tabLst/>
            </a:pPr>
            <a:r>
              <a:rPr kumimoji="0" lang="en-US" altLang="en-US" sz="2000" b="0" i="0" u="none" strike="noStrike" cap="none" normalizeH="0" baseline="0" dirty="0">
                <a:ln>
                  <a:noFill/>
                </a:ln>
                <a:solidFill>
                  <a:schemeClr val="tx1"/>
                </a:solidFill>
                <a:effectLst/>
              </a:rPr>
              <a:t>Lack of proper analysis of variables like attendance and study habits </a:t>
            </a:r>
          </a:p>
          <a:p>
            <a:pPr algn="just">
              <a:buFont typeface="Arial" panose="020B0604020202020204" pitchFamily="34" charset="0"/>
              <a:buChar char="•"/>
            </a:pPr>
            <a:r>
              <a:rPr lang="en-US" sz="2000" dirty="0"/>
              <a:t>Academic performance impacts students’ future opportunities </a:t>
            </a:r>
          </a:p>
          <a:p>
            <a:pPr algn="just">
              <a:buFont typeface="Arial" panose="020B0604020202020204" pitchFamily="34" charset="0"/>
              <a:buChar char="•"/>
            </a:pPr>
            <a:r>
              <a:rPr lang="en-US" sz="2000" dirty="0"/>
              <a:t>Hard to identify weak students without proper analysis </a:t>
            </a:r>
          </a:p>
          <a:p>
            <a:pPr algn="just"/>
            <a:r>
              <a:rPr lang="en-US" sz="2000" dirty="0"/>
              <a:t> </a:t>
            </a:r>
          </a:p>
          <a:p>
            <a:pPr algn="just"/>
            <a:endParaRPr 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Using structured data analysis to identify key factors affecting student performance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Applying analytical techniques to study variables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Creating visualizations to easily understand performance patterns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Using AI assistance to improve analysis efficiency and accuracy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Developing simple indicators to identify weak and strong students </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600" dirty="0"/>
              <a:t>The data used in this project is a self-collected dataset created manually to ensure relevance and accuracy. </a:t>
            </a:r>
            <a:endParaRPr lang="en-IN" sz="1600" dirty="0"/>
          </a:p>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a:t>The data is cleaned in Microsoft Excel by removing duplicates, correcting errors, and handling missing values.</a:t>
            </a:r>
            <a:endParaRPr lang="en-US" sz="1600" dirty="0">
              <a:latin typeface="Lato" panose="020F0502020204030203" pitchFamily="34" charset="0"/>
              <a:cs typeface="Arial" panose="020B0604020202020204" pitchFamily="34" charset="0"/>
            </a:endParaRPr>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03988" y="3427056"/>
            <a:ext cx="4023360" cy="1188720"/>
          </a:xfrm>
          <a:prstGeom prst="rect">
            <a:avLst/>
          </a:prstGeom>
          <a:noFill/>
          <a:ln/>
        </p:spPr>
        <p:txBody>
          <a:bodyPr wrap="square" rtlCol="0" anchor="t"/>
          <a:lstStyle/>
          <a:p>
            <a:r>
              <a:rPr lang="en-US" sz="1600" dirty="0"/>
              <a:t>Microsoft Excel is used for data collection, cleaning, and basic analysis, including organizing data and creating charts.</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r>
              <a:rPr lang="en-US" sz="1600" dirty="0"/>
              <a:t>The final output of the project is presented in the form of organized Excel reports, charts, and visual representations. </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rPr>
              <a:t>GitHub</a:t>
            </a: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hlinkClick r:id="rId4"/>
              </a:rPr>
              <a:t>https://github.com/ayeshapari2007-create/Student-Academic-Analysis-and-Grade</a:t>
            </a:r>
            <a:endParaRPr lang="en-US" sz="1600" dirty="0">
              <a:latin typeface="Lato" panose="020F0502020204030203" pitchFamily="34" charset="0"/>
              <a:cs typeface="Arial" panose="020B0604020202020204" pitchFamily="34" charset="0"/>
            </a:endParaRPr>
          </a:p>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36976" y="2186361"/>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a:p>
            <a:endParaRPr lang="en-IN" dirty="0">
              <a:latin typeface="Lato" panose="020F0502020204030203" pitchFamily="34" charset="0"/>
            </a:endParaRPr>
          </a:p>
          <a:p>
            <a:endParaRPr lang="en-IN" dirty="0">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dirty="0">
                <a:latin typeface="Lato" panose="020F0502020204030203" pitchFamily="34" charset="0"/>
                <a:cs typeface="Arial" panose="020B0604020202020204" pitchFamily="34" charset="0"/>
              </a:rPr>
              <a:t>Video Presentation</a:t>
            </a:r>
          </a:p>
        </p:txBody>
      </p:sp>
      <p:sp>
        <p:nvSpPr>
          <p:cNvPr id="16" name="Text 14"/>
          <p:cNvSpPr/>
          <p:nvPr/>
        </p:nvSpPr>
        <p:spPr>
          <a:xfrm>
            <a:off x="3336341" y="3086861"/>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85916" y="2186361"/>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8" name="Rectangle 4">
            <a:extLst>
              <a:ext uri="{FF2B5EF4-FFF2-40B4-BE49-F238E27FC236}">
                <a16:creationId xmlns:a16="http://schemas.microsoft.com/office/drawing/2014/main" id="{7589FD34-017A-B050-E0C8-5AE83F332D70}"/>
              </a:ext>
            </a:extLst>
          </p:cNvPr>
          <p:cNvSpPr>
            <a:spLocks noChangeArrowheads="1"/>
          </p:cNvSpPr>
          <p:nvPr/>
        </p:nvSpPr>
        <p:spPr bwMode="auto">
          <a:xfrm>
            <a:off x="3419094" y="2836712"/>
            <a:ext cx="24033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https://drive.google.com/file/d/1abRuCjyAY6DIBT8CqbmiCCmaPU4iVPTj/view?usp=drive_link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856165" cy="3474720"/>
          </a:xfrm>
          <a:prstGeom prst="rect">
            <a:avLst/>
          </a:prstGeom>
          <a:noFill/>
          <a:ln/>
        </p:spPr>
        <p:txBody>
          <a:bodyPr wrap="square" rtlCol="0" anchor="t"/>
          <a:lstStyle/>
          <a:p>
            <a:pPr algn="just"/>
            <a:r>
              <a:rPr lang="en-US" dirty="0"/>
              <a:t>This project successfully developed a structured system for analyzing student academic performance using semester-wise data, attendance, and key performance indicators. The main objective of evaluating and monitoring student progress was achieved by organizing data, performing thorough analysis, and generating meaningful insights. Key findings indicate that consistent performance and attendance significantly influence overall academic results, and the system effectively identifies both high-performing students and those at academic risk.</a:t>
            </a:r>
            <a:endParaRPr lang="en-US" dirty="0">
              <a:latin typeface="Lato" panose="020F0502020204030203" pitchFamily="34" charset="0"/>
              <a:cs typeface="Arial" panose="020B0604020202020204" pitchFamily="34" charset="0"/>
            </a:endParaRPr>
          </a:p>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800" dirty="0"/>
              <a:t>This project can be further enhanced by incorporating advanced analytical and technological features to improve its effectiveness and scalability. One key improvement is the integration of </a:t>
            </a:r>
            <a:r>
              <a:rPr lang="en-US" sz="1800" b="1" dirty="0"/>
              <a:t>predictive analytics and machine learning models</a:t>
            </a:r>
            <a:r>
              <a:rPr lang="en-US" sz="1800" dirty="0"/>
              <a:t> to forecast student performance and identify at-risk students more accurately at an early stage.</a:t>
            </a:r>
          </a:p>
          <a:p>
            <a:pPr algn="just"/>
            <a:endParaRPr lang="en-US" sz="1800" dirty="0"/>
          </a:p>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TotalTime>
  <Words>476</Words>
  <Application>Microsoft Office PowerPoint</Application>
  <PresentationFormat>On-screen Show (16:9)</PresentationFormat>
  <Paragraphs>65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Black</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Amtul Jaleel Ayesha</cp:lastModifiedBy>
  <cp:revision>37</cp:revision>
  <dcterms:created xsi:type="dcterms:W3CDTF">2026-02-18T09:17:23Z</dcterms:created>
  <dcterms:modified xsi:type="dcterms:W3CDTF">2026-04-10T13:12:10Z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